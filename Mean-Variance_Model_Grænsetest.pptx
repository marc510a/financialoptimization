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929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68E28-7DB1-4011-1E4A-C290CE3E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3F138-9991-17B8-B2D0-79935A9C9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745FD-F627-CBAE-2D92-ED42BA48D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8F6BD-655E-CB43-5C93-B905B1794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37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55DB2-76F2-634C-5318-B50C5188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0BFE8-BA69-881A-AA71-19ECB3B61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5B65BD-5198-BE31-779D-C5645CFDD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3E002-C732-818C-0574-0294EC4559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02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Hvor mange aktiver kan modellen håndtere?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af beregningsmæssige og numeriske grænser for mean-variance modellen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time  ·  Numerisk stabilitet  ·  Øvre grænse  ·  Løsningskvalitet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Solve time vs. antal aktiver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7772400" y="114300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5" name="Text 2"/>
          <p:cNvSpPr/>
          <p:nvPr/>
        </p:nvSpPr>
        <p:spPr>
          <a:xfrm>
            <a:off x="8001000" y="1371600"/>
            <a:ext cx="33832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2B4C"/>
                </a:solidFill>
              </a:rPr>
              <a:t>Værd at nævne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Solve time forbliver lav og flad op til n≈200-300.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Tydeligt knæk ved n≈300-400 og igen ved n≈700 — </a:t>
            </a:r>
            <a:r>
              <a:rPr lang="en-US" sz="1200" dirty="0" err="1">
                <a:solidFill>
                  <a:srgbClr val="1F2937"/>
                </a:solidFill>
              </a:rPr>
              <a:t>sandsynligvis</a:t>
            </a:r>
            <a:r>
              <a:rPr lang="en-US" sz="1200" dirty="0">
                <a:solidFill>
                  <a:srgbClr val="1F2937"/>
                </a:solidFill>
              </a:rPr>
              <a:t> solver-</a:t>
            </a:r>
            <a:r>
              <a:rPr lang="en-US" sz="1200" dirty="0" err="1">
                <a:solidFill>
                  <a:srgbClr val="1F2937"/>
                </a:solidFill>
              </a:rPr>
              <a:t>adfærd</a:t>
            </a:r>
            <a:r>
              <a:rPr lang="en-US" sz="1200" dirty="0">
                <a:solidFill>
                  <a:srgbClr val="1F2937"/>
                </a:solidFill>
              </a:rPr>
              <a:t>. Ved n=700: ~1.65 sek. Stadig helt praktisk anvendeligt.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Ingen TimeLimit sat på Gurobi — værd at tilføje for at undgå at en fremtidig, større kørsel hænger uendeligt.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B5EDB6FC-2E3A-D16B-91FF-E4BCBC8E4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3040"/>
            <a:ext cx="7214884" cy="39767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Numerisk stabilitet: condition number</a:t>
            </a:r>
            <a:endParaRPr lang="en-US" sz="2600" dirty="0"/>
          </a:p>
        </p:txBody>
      </p:sp>
      <p:pic>
        <p:nvPicPr>
          <p:cNvPr id="3" name="Image 0" descr="images/condition_nu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6949440" cy="3831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0" y="114300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5" name="Text 2"/>
          <p:cNvSpPr/>
          <p:nvPr/>
        </p:nvSpPr>
        <p:spPr>
          <a:xfrm>
            <a:off x="8001000" y="137160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2B4C"/>
                </a:solidFill>
              </a:rPr>
              <a:t>Værd at nævne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Rå sample-kovarians eksploderer i condition number omkring T=471 observationer — matricen bliver reelt singulær.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Uden shrinkage ville modellen give numerisk ubrugelige resultater allerede ved n≈400-500 — uden at fejle synligt.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Ledoit-Wolf shrinkage holder condition number lavt og stabilt (&lt;2000) på tværs af alle 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Konklusion: performance-grænsen og den numeriske grænse er to forskellige ting — og shrinkage er det, der reelt holder modellen brugbar.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Øvre grænse: syntetisk data op til n=3000</a:t>
            </a:r>
            <a:endParaRPr lang="en-US" sz="2600" dirty="0"/>
          </a:p>
        </p:txBody>
      </p:sp>
      <p:pic>
        <p:nvPicPr>
          <p:cNvPr id="3" name="Image 0" descr="images/upper_bound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949440" cy="2395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8862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Genereret med syntetisk faktor-model data (samme T=471), da det reelle ticker-univers er begrænset til ~900 navne.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772400" y="1143000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6" name="Text 3"/>
          <p:cNvSpPr/>
          <p:nvPr/>
        </p:nvSpPr>
        <p:spPr>
          <a:xfrm>
            <a:off x="8001000" y="137160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A2B4C"/>
                </a:solidFill>
              </a:rPr>
              <a:t>Værd at nævne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Ingen numerisk grænse fundet selv ved n=3000 (n/T≈6.4) — status er "solved" hele vejen, cond_lw forbliver lav.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cond_lw er ikke helt fladt — vokser stille fra ~2150 til ~9550. Shrinkage kontrollerer, men eliminerer ikke, væksten.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Solve time vokser langt hurtigere: 2.8s → 51.7s fra n=1000 til n=3000 — ikke-lineær vækst.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Konklusion: den praktiske øvre grænse for modellen er solve time, ikke numerisk stabilitet.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Løsningskvalitet</a:t>
            </a:r>
            <a:endParaRPr lang="en-US" sz="2600" dirty="0"/>
          </a:p>
        </p:txBody>
      </p:sp>
      <p:pic>
        <p:nvPicPr>
          <p:cNvPr id="3" name="Image 0" descr="images/qualit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10881360" cy="34015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8463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5" name="Text 2"/>
          <p:cNvSpPr/>
          <p:nvPr/>
        </p:nvSpPr>
        <p:spPr>
          <a:xfrm>
            <a:off x="777240" y="498348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B4C"/>
                </a:solidFill>
              </a:rPr>
              <a:t>Værd at nævne:  </a:t>
            </a:r>
            <a:r>
              <a:rPr lang="en-US" sz="1200" dirty="0">
                <a:solidFill>
                  <a:srgbClr val="1F2937"/>
                </a:solidFill>
              </a:rPr>
              <a:t>Ingen NaN/Inf, sum_weights=1.0 konsekvent, ingen fejl på tværs af alle n — grundlæggende sund. Men effective_num_assets forbliver lav (~3-7) uanset n — modellen spreder sig ikke mere ud selvom universet vokser; det kan være tilsigtet (λ og transaktionsomkostninger), men er værd at flage som forretningsobservation. num_at_bounds=0 overalt: handelsgrænserne bliver aldrig bindende ved denne λ.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Sensitivitetstest</a:t>
            </a:r>
            <a:endParaRPr lang="en-US" sz="2600" dirty="0"/>
          </a:p>
        </p:txBody>
      </p:sp>
      <p:pic>
        <p:nvPicPr>
          <p:cNvPr id="3" name="Image 0" descr="images/sensitivit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5212080" cy="4389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18872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5" name="Text 2"/>
          <p:cNvSpPr/>
          <p:nvPr/>
        </p:nvSpPr>
        <p:spPr>
          <a:xfrm>
            <a:off x="6263640" y="1417320"/>
            <a:ext cx="51206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B4C"/>
                </a:solidFill>
              </a:rPr>
              <a:t>Metode</a:t>
            </a:r>
            <a:endParaRPr lang="en-US" sz="14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1F2937"/>
                </a:solidFill>
              </a:rPr>
              <a:t>Q forstyrres med lille tilfældig støj (simulerer estimeringsstøj), og vi måler hvor meget porteføljevægtene flytter sig.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B4C"/>
                </a:solidFill>
              </a:rPr>
              <a:t>Værd at nævne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max_weight_change forbliver lille (0.0001-0.001) og vokser ikke med n — heller ikke tæt på T=471.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Dette er det stærkeste bevis for robusthed: shrinkage forhindrer, at små input-fejl forstærkes til store output-ændringer, selv nær den teoretiske grænse.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Bekræfter direkte konklusionen fra condition number-analysen, nu målt på selve outputtet (vægtene), ikke kun på matricen.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Samlet konklusion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 2"/>
          <p:cNvSpPr txBox="1"/>
          <p:nvPr/>
        </p:nvSpPr>
        <p:spPr>
          <a:xfrm>
            <a:off x="868680" y="166420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703320" y="1664208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3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Modellen er beregningsmæssigt praktisk op til ~500-700 aktiver; solve time vokser ikke-lineært og er den reelle øvre grænse (op til 51.7s ved n=3000).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7" name="Text 5"/>
          <p:cNvSpPr txBox="1"/>
          <p:nvPr/>
        </p:nvSpPr>
        <p:spPr>
          <a:xfrm>
            <a:off x="868680" y="289864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Numerisk stabilitet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898648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3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Uden shrinkage ville modellen bryde numerisk sammen omkring n≈400-500 (n≈T). Ledoit-Wolf shrinkage forhindrer dette helt op til n=3000.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0233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0" name="Text 8"/>
          <p:cNvSpPr txBox="1"/>
          <p:nvPr/>
        </p:nvSpPr>
        <p:spPr>
          <a:xfrm>
            <a:off x="868680" y="413308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Løsningskvalitet &amp; robusthed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4133088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3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Løsninger er konsistente og stabile under forstyrrelser i hele det testede interval — ingen tegn på numerisk ustabilitet i selve porteføljevægtene.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24365E"/>
          </a:solidFill>
          <a:ln w="12700">
            <a:solidFill>
              <a:srgbClr val="24365E"/>
            </a:solidFill>
            <a:prstDash val="solid"/>
          </a:ln>
        </p:spPr>
        <p:txBody>
          <a:bodyPr/>
          <a:lstStyle/>
          <a:p>
            <a:endParaRPr lang="da-DK"/>
          </a:p>
        </p:txBody>
      </p:sp>
      <p:sp>
        <p:nvSpPr>
          <p:cNvPr id="13" name="Text 11"/>
          <p:cNvSpPr txBox="1"/>
          <p:nvPr/>
        </p:nvSpPr>
        <p:spPr>
          <a:xfrm>
            <a:off x="868680" y="536752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F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5367528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3F4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Testet og gyldigt for n=10-3000 (reelt datauniverstet: op til ~900 tickers; udover det syntetisk data). Løsningskvalitet i dybden og adfærd ved λ≠0.71 er ikke undersøgt.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7B3E1-B002-2AB7-9A31-62E768366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87BD64-D097-5B6C-77A6-62DF6E3D5F50}"/>
              </a:ext>
            </a:extLst>
          </p:cNvPr>
          <p:cNvSpPr txBox="1"/>
          <p:nvPr/>
        </p:nvSpPr>
        <p:spPr>
          <a:xfrm>
            <a:off x="609600" y="3429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B4C"/>
                </a:solidFill>
                <a:latin typeface="Georgia" pitchFamily="34" charset="0"/>
              </a:rPr>
              <a:t>Black-</a:t>
            </a:r>
            <a:r>
              <a:rPr lang="en-US" sz="2600" b="1" dirty="0" err="1">
                <a:solidFill>
                  <a:srgbClr val="1A2B4C"/>
                </a:solidFill>
                <a:latin typeface="Georgia" pitchFamily="34" charset="0"/>
              </a:rPr>
              <a:t>Litterman</a:t>
            </a:r>
            <a:r>
              <a:rPr lang="en-US" sz="2600" b="1" dirty="0">
                <a:solidFill>
                  <a:srgbClr val="1A2B4C"/>
                </a:solidFill>
                <a:latin typeface="Georgia" pitchFamily="34" charset="0"/>
              </a:rPr>
              <a:t> 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A2FBFD-CC2D-0688-0850-E647BAD1C911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D70F6F-FE16-D63E-4C4C-221BE3CD8291}"/>
              </a:ext>
            </a:extLst>
          </p:cNvPr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B16A447D-15BC-0D14-FD96-5666BB9B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896" y="1186601"/>
            <a:ext cx="6522308" cy="3590934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44A36A8B-D9A3-E60E-F7F8-296407439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3896" y="4908962"/>
            <a:ext cx="6637595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EE739-6C37-40A5-D7D4-70AEE280E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F935234-900C-661F-57AA-F9302CA8D54C}"/>
              </a:ext>
            </a:extLst>
          </p:cNvPr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2B4C"/>
                </a:solidFill>
                <a:latin typeface="Georgia" pitchFamily="34" charset="0"/>
              </a:rPr>
              <a:t>Tjek</a:t>
            </a:r>
            <a:r>
              <a:rPr lang="en-US" sz="2600" b="1" dirty="0">
                <a:solidFill>
                  <a:srgbClr val="1A2B4C"/>
                </a:solidFill>
                <a:latin typeface="Georgia" pitchFamily="34" charset="0"/>
              </a:rPr>
              <a:t> </a:t>
            </a:r>
            <a:r>
              <a:rPr lang="en-US" sz="2600" b="1" dirty="0" err="1">
                <a:solidFill>
                  <a:srgbClr val="1A2B4C"/>
                </a:solidFill>
                <a:latin typeface="Georgia" pitchFamily="34" charset="0"/>
              </a:rPr>
              <a:t>af</a:t>
            </a:r>
            <a:r>
              <a:rPr lang="en-US" sz="2600" b="1" dirty="0">
                <a:solidFill>
                  <a:srgbClr val="1A2B4C"/>
                </a:solidFill>
                <a:latin typeface="Georgia" pitchFamily="34" charset="0"/>
              </a:rPr>
              <a:t> Black-</a:t>
            </a:r>
            <a:r>
              <a:rPr lang="en-US" sz="2600" b="1" dirty="0" err="1">
                <a:solidFill>
                  <a:srgbClr val="1A2B4C"/>
                </a:solidFill>
                <a:latin typeface="Georgia" pitchFamily="34" charset="0"/>
              </a:rPr>
              <a:t>Litterman</a:t>
            </a:r>
            <a:endParaRPr lang="en-US" sz="2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C12E619-1F9B-4D91-8621-39027A9D9B82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Mean-Variance model — asset count stress test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D464224-5056-81C1-FD48-7856F985D2EF}"/>
              </a:ext>
            </a:extLst>
          </p:cNvPr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485E1E7B-F73B-6E9F-6448-FFB4F855A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631" y="2312573"/>
            <a:ext cx="5730737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8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3145</TotalTime>
  <Words>691</Words>
  <Application>Microsoft Office PowerPoint</Application>
  <PresentationFormat>Widescreen</PresentationFormat>
  <Paragraphs>64</Paragraphs>
  <Slides>9</Slides>
  <Notes>9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Marcus Selchou Raaholt</cp:lastModifiedBy>
  <cp:revision>6</cp:revision>
  <dcterms:created xsi:type="dcterms:W3CDTF">2026-08-26T10:30:46Z</dcterms:created>
  <dcterms:modified xsi:type="dcterms:W3CDTF">2026-08-28T15:43:06Z</dcterms:modified>
</cp:coreProperties>
</file>